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Who Matters Most in a Citation Network?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/>
            </a:pPr>
            <a:r>
              <a:t>• Citation network analysis of the bibliometrics literature</a:t>
            </a:r>
          </a:p>
          <a:p>
            <a:pPr>
              <a:spcAft>
                <a:spcPts val="800"/>
              </a:spcAft>
              <a:defRPr sz="2400"/>
            </a:pPr>
            <a:r>
              <a:t>• Introduction to Network Science</a:t>
            </a:r>
          </a:p>
          <a:p>
            <a:pPr>
              <a:spcAft>
                <a:spcPts val="800"/>
              </a:spcAft>
              <a:defRPr sz="2400"/>
            </a:pPr>
            <a:r>
              <a:t>• [YOUR NAME]  |  ID: [STUDENT ID]</a:t>
            </a:r>
          </a:p>
          <a:p>
            <a:pPr>
              <a:spcAft>
                <a:spcPts val="800"/>
              </a:spcAft>
              <a:defRPr sz="2400"/>
            </a:pPr>
            <a:r>
              <a:t>• October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Main question: which papers are most influential in the bibliometrics literature, and how are they connected?</a:t>
            </a:r>
          </a:p>
          <a:p>
            <a:pPr>
              <a:spcAft>
                <a:spcPts val="800"/>
              </a:spcAft>
              <a:defRPr sz="2000"/>
            </a:pPr>
            <a:r>
              <a:t>• Q1. Which papers receive the most incoming citations (in-degree)?</a:t>
            </a:r>
          </a:p>
          <a:p>
            <a:pPr>
              <a:spcAft>
                <a:spcPts val="800"/>
              </a:spcAft>
              <a:defRPr sz="2000"/>
            </a:pPr>
            <a:r>
              <a:t>• Q2. Which papers act as bridges between parts of the network (betweenness)?</a:t>
            </a:r>
          </a:p>
          <a:p>
            <a:pPr>
              <a:spcAft>
                <a:spcPts val="800"/>
              </a:spcAft>
              <a:defRPr sz="2000"/>
            </a:pPr>
            <a:r>
              <a:t>• Q3. Does PageRank re-order the in-degree ranking?</a:t>
            </a:r>
          </a:p>
          <a:p>
            <a:pPr>
              <a:spcAft>
                <a:spcPts val="800"/>
              </a:spcAft>
              <a:defRPr sz="2000"/>
            </a:pPr>
            <a:r>
              <a:t>• Q4. What communities exist, and do rankings change over time?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Data and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Source: OpenAlex API, retrieved 2026-10-20; no login needed.</a:t>
            </a:r>
          </a:p>
          <a:p>
            <a:pPr>
              <a:spcAft>
                <a:spcPts val="800"/>
              </a:spcAft>
              <a:defRPr sz="1800"/>
            </a:pPr>
            <a:r>
              <a:t>• Sample: top-cited journal articles whose title matches “bibliometric”, “citation analysis”, “co-citation”, “bibliographic coupling”, “scientometrics” (up to 100 per query), merged, de-duplicated by title, top 150 kept.</a:t>
            </a:r>
          </a:p>
          <a:p>
            <a:pPr>
              <a:spcAft>
                <a:spcPts val="800"/>
              </a:spcAft>
              <a:defRPr sz="1800"/>
            </a:pPr>
            <a:r>
              <a:t>• Edge A → B means A cites B. Only citations between sampled papers are kept.</a:t>
            </a:r>
          </a:p>
          <a:p>
            <a:pPr>
              <a:spcAft>
                <a:spcPts val="800"/>
              </a:spcAft>
              <a:defRPr sz="1800"/>
            </a:pPr>
            <a:r>
              <a:t>• Cleaning: 4 self-loops removed; 1 edge points to a later-published paper (metadata artefact, kept and flagged).</a:t>
            </a:r>
          </a:p>
          <a:p>
            <a:pPr>
              <a:spcAft>
                <a:spcPts val="800"/>
              </a:spcAft>
              <a:defRPr sz="1800"/>
            </a:pPr>
            <a:r>
              <a:t>• Result: N = 150 papers, E = 424 citations; 133 papers lie in the largest weak component.</a:t>
            </a:r>
          </a:p>
          <a:p>
            <a:pPr>
              <a:spcAft>
                <a:spcPts val="800"/>
              </a:spcAft>
              <a:defRPr sz="1800"/>
            </a:pPr>
            <a:r>
              <a:t>• Tools: Python (NetworkX, pandas, SciPy, Matplotlib). Communities: Louvain on the undirected graph (seed 42).</a:t>
            </a:r>
          </a:p>
          <a:p>
            <a:pPr>
              <a:spcAft>
                <a:spcPts val="800"/>
              </a:spcAft>
              <a:defRPr sz="1800"/>
            </a:pPr>
            <a:r>
              <a:t>• Clustering is computed on the undirected graph; path length only on the largest weak component (also undirected).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Network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658368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1828800"/>
              </a:tblGrid>
              <a:tr h="384048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Papers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150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Citations (E)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424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Mean in-degree (E/N)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2.83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Mean total degree (2E/N)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5.65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Density E/[N(N−1)]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0.0190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Papers with no links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Weak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17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Average clustering (undirected)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0.212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Avg. path length, largest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2.92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Diameter, largest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Louvain modularity (24 groups)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0.421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06640" y="128016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33% of papers are never cited inside the sample.</a:t>
            </a:r>
          </a:p>
          <a:p>
            <a:pPr>
              <a:spcAft>
                <a:spcPts val="800"/>
              </a:spcAft>
              <a:defRPr sz="1600"/>
            </a:pPr>
            <a:r>
              <a:t>• Maximum in-degree is 41 against a mean of 2.83: citations are highly concentrated.</a:t>
            </a:r>
          </a:p>
          <a:p>
            <a:pPr>
              <a:spcAft>
                <a:spcPts val="800"/>
              </a:spcAft>
              <a:defRPr sz="1600"/>
            </a:pPr>
            <a:r>
              <a:t>• The network is sparse: density is under 2%.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Most-cited papers inside the network (in-degree)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7863840"/>
                <a:gridCol w="914400"/>
                <a:gridCol w="155448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In-degree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Co‐citation in the scientific literature: A new measure of the relationship b…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Software survey: VOSviewer, a computer program for bibliometric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Bibliographic coupling between scientific papers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Visualizing a discipline: An author co‐citation analysis of information scien…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Citation Analysis as a Tool in Journal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1972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Changes in the intellectual structure of strategic management research: a bib…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Toward a definition of “bibliometrics”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The intellectual structure of the strategic management field: an author co‐ci…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The Literature of Bibliometrics, Scientometrics, and Informetrics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Bibliometric Methods in Management and Organization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In-degree counts citations from the other 149 sampled papers only. Rank correlation with global OpenAlex citation counts: Spearman ρ = 0.35.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The citation network</a:t>
            </a:r>
          </a:p>
        </p:txBody>
      </p:sp>
      <p:pic>
        <p:nvPicPr>
          <p:cNvPr id="3" name="Picture 2" descr="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097280"/>
            <a:ext cx="65938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In-degree versus PageRank</a:t>
            </a:r>
          </a:p>
        </p:txBody>
      </p:sp>
      <p:pic>
        <p:nvPicPr>
          <p:cNvPr id="3" name="Picture 2" descr="distribution_page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949440" cy="264078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589520" y="1188720"/>
          <a:ext cx="4206240" cy="3319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926080"/>
                <a:gridCol w="731520"/>
              </a:tblGrid>
              <a:tr h="30175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Top PageRank papers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Year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Bibliographic coupling between scientif…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1963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Co‐citation in the scientific literatur…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1973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From the science of science to Scientom…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2009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Software survey: VOSviewer, a computer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2009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Citation Analysis as a Tool in Journal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1972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Scholarly communication and bibliometri…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2002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Visualizing a discipline: An author co‐…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1998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The use of bibliometric data for the me…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1985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Toward a definition of “bibliometrics”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1987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New bibliometric tools for the assessme…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1995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84632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• Spearman ρ (in-degree, PageRank) = 0.96: the two rankings broadly agree.</a:t>
            </a:r>
          </a:p>
          <a:p>
            <a:pPr>
              <a:spcAft>
                <a:spcPts val="800"/>
              </a:spcAft>
              <a:defRPr sz="1500"/>
            </a:pPr>
            <a:r>
              <a:t>• But only 6 of the top 10 are shared; PageRank rewards being cited by well-cited papers.</a:t>
            </a:r>
          </a:p>
          <a:p>
            <a:pPr>
              <a:spcAft>
                <a:spcPts val="800"/>
              </a:spcAft>
              <a:defRPr sz="1500"/>
            </a:pPr>
            <a:r>
              <a:t>• Older papers collect more in-sample citations (Spearman ρ year vs in-degree = -0.61).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Bridge papers (betweenness centrality)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7680960"/>
                <a:gridCol w="914400"/>
                <a:gridCol w="173736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Betweenness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How to conduct a bibliometric analysis: An overview and guidelines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0.0109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Bibliometric Methods in Management and Organization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0.0071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Scholarly communication and bibliometrics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0.0071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The intellectual structure of the strategic management field: an author co‐cita…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0.0052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Changes in the intellectual structure of strategic management research: a bibli…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0.0045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Visualizing a discipline: An author co‐citation analysis of information science…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0.0044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Bibliometric Methods: Pitfalls and Possibilities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0.0042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Forty-five years of Journal of Business Research: A bibliometric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0.0038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 bibliometric analysis of operations research and management science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0.0036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The evolution of the intellectual structure of operations management—1980–2006:…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0.0031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Directed betweenness. Top bridges are mostly review/method papers that cite across fields; foundational papers are cited a lot but sit at path endpoints, so they score 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Communities (Louvain)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914400"/>
                <a:gridCol w="1371600"/>
                <a:gridCol w="7955279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Papers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Median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Most-cited paper in group (in-sample)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Co‐citation in the scientific literature: A n (1973)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Visualizing a discipline: An author co‐citati (1998)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Software survey: VOSviewer, a computer progra (2009)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Citation Analysis as a Tool in Journal Evalua (1972)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Toward a definition of “bibliometrics” (1987)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Bibliometric Methods: Pitfalls and Possibilit (2005)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The Structural Influence of Marketing Journal (2003)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Bibliometrics: The Leiden Manifesto for resea (2015)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Modularity 0.421 with 8 groups of 3+ papers; remaining groups are single papers with no in-sample links. Group labels are computed only on structure, not on topic.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Rankings through time (network up to 2010 vs full)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1280160"/>
                <a:gridCol w="1188720"/>
                <a:gridCol w="1463040"/>
                <a:gridCol w="128016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Paper (year)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Rank ≤2010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Rank 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In-deg ≤2010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In-deg full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Co‐citation in the scientific literature: A n (1973)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Citation Analysis as a Tool in Journal Evalua (1972)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Visualizing a discipline: An author co‐citati (1998)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Bibliographic coupling between scientific pap (1963)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Scholarly communication and bibliometrics (2002)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Mapping of science by combined co-citation an (1991)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Is citation analysis a legitimate evaluation  (1979)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Problems of citation analysis (1996)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New bibliometric tools for the assessment of  (1995)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The Intellectual Development of Management In (1986)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Early network: 61 papers, 93 citations. Ties share a rank. The 1973 co-citation paper stays first; several early papers fall in the full ranking as later papers cite other 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Database: OpenAlex coverage and reference lists differ from Web of Science or Scopus.</a:t>
            </a:r>
          </a:p>
          <a:p>
            <a:pPr>
              <a:spcAft>
                <a:spcPts val="800"/>
              </a:spcAft>
              <a:defRPr sz="2000"/>
            </a:pPr>
            <a:r>
              <a:t>• Sampling: title keyword search ranked by global citations; applied bibliometric studies (e.g. in management) dominate the recent half and some topics are missed.</a:t>
            </a:r>
          </a:p>
          <a:p>
            <a:pPr>
              <a:spcAft>
                <a:spcPts val="800"/>
              </a:spcAft>
              <a:defRPr sz="2000"/>
            </a:pPr>
            <a:r>
              <a:t>• Closed sample: only citations among the 150 papers count, so in-degree is not total citations.</a:t>
            </a:r>
          </a:p>
          <a:p>
            <a:pPr>
              <a:spcAft>
                <a:spcPts val="800"/>
              </a:spcAft>
              <a:defRPr sz="2000"/>
            </a:pPr>
            <a:r>
              <a:t>• Citation age: older papers had longer to be cited; self-citations are not removed.</a:t>
            </a:r>
          </a:p>
          <a:p>
            <a:pPr>
              <a:spcAft>
                <a:spcPts val="800"/>
              </a:spcAft>
              <a:defRPr sz="2000"/>
            </a:pPr>
            <a:r>
              <a:t>• Single run: Louvain is stochastic (seed fixed) and the cutoff year is a choice.</a:t>
            </a:r>
          </a:p>
          <a:p>
            <a:pPr>
              <a:spcAft>
                <a:spcPts val="800"/>
              </a:spcAft>
              <a:defRPr sz="2000"/>
            </a:pPr>
            <a:r>
              <a:t>• Citation counts measure attention, not quality.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Most-cited inside the network: “Co‐citation in the scientific literature: A new measure of the relati…” (1973), in-degree 41.</a:t>
            </a:r>
          </a:p>
          <a:p>
            <a:pPr>
              <a:spcAft>
                <a:spcPts val="800"/>
              </a:spcAft>
              <a:defRPr sz="2000"/>
            </a:pPr>
            <a:r>
              <a:t>• Influence depends on the measure: in-degree, PageRank and betweenness pick out different papers (foundational, well-connected, and bridging).</a:t>
            </a:r>
          </a:p>
          <a:p>
            <a:pPr>
              <a:spcAft>
                <a:spcPts val="800"/>
              </a:spcAft>
              <a:defRPr sz="2000"/>
            </a:pPr>
            <a:r>
              <a:t>• Structure: sparse (density 0.019) but 133 of 150 papers are connected; modularity 0.42 indicates moderate community structure.</a:t>
            </a:r>
          </a:p>
          <a:p>
            <a:pPr>
              <a:spcAft>
                <a:spcPts val="800"/>
              </a:spcAft>
              <a:defRPr sz="2000"/>
            </a:pPr>
            <a:r>
              <a:t>• Citation counts alone do not measure quality, but network position shows the structural role each paper plays.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References and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OpenAlex API (https://openalex.org); Priem, Piwowar &amp; Orr (2022), OpenAlex: a fully-open index of scholarly works.</a:t>
            </a:r>
          </a:p>
          <a:p>
            <a:pPr>
              <a:spcAft>
                <a:spcPts val="800"/>
              </a:spcAft>
              <a:defRPr sz="1700"/>
            </a:pPr>
            <a:r>
              <a:t>• Hagberg, Schult &amp; Swart (2008). Exploring network structure, dynamics, and function using NetworkX.</a:t>
            </a:r>
          </a:p>
          <a:p>
            <a:pPr>
              <a:spcAft>
                <a:spcPts val="800"/>
              </a:spcAft>
              <a:defRPr sz="1700"/>
            </a:pPr>
            <a:r>
              <a:t>• Blondel et al. (2008). Fast unfolding of communities in large networks. J. Stat. Mech.</a:t>
            </a:r>
          </a:p>
          <a:p>
            <a:pPr>
              <a:spcAft>
                <a:spcPts val="800"/>
              </a:spcAft>
              <a:defRPr sz="1700"/>
            </a:pPr>
            <a:r>
              <a:t>• Page, Brin, Motwani &amp; Winograd (1999). The PageRank citation ranking.</a:t>
            </a:r>
          </a:p>
          <a:p>
            <a:pPr>
              <a:spcAft>
                <a:spcPts val="800"/>
              </a:spcAft>
              <a:defRPr sz="1700"/>
            </a:pPr>
            <a:r>
              <a:t>• Reproducibility: data/processed/{nodes,edges}.csv and metadata.json; src/analyze.py regenerates every figure and number.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