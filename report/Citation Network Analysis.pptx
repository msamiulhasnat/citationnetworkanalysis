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Source Sans 3" charset="1" panose="020B0303030403020204"/>
      <p:regular r:id="rId20"/>
    </p:embeddedFont>
    <p:embeddedFont>
      <p:font typeface="Source Sans 3 Bold" charset="1" panose="020B0303030403020204"/>
      <p:regular r:id="rId21"/>
    </p:embeddedFont>
    <p:embeddedFont>
      <p:font typeface="Arimo Bold" charset="1" panose="020B0704020202020204"/>
      <p:regular r:id="rId22"/>
    </p:embeddedFont>
    <p:embeddedFont>
      <p:font typeface="IBM Plex Mono Bold" charset="1" panose="020B0809050203000203"/>
      <p:regular r:id="rId23"/>
    </p:embeddedFont>
    <p:embeddedFont>
      <p:font typeface="IBM Plex Mono" charset="1" panose="020B0509050203000203"/>
      <p:regular r:id="rId24"/>
    </p:embeddedFon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96500" y="0"/>
            <a:ext cx="8191500" cy="10287000"/>
          </a:xfrm>
          <a:custGeom>
            <a:avLst/>
            <a:gdLst/>
            <a:ahLst/>
            <a:cxnLst/>
            <a:rect r="r" b="b" t="t" l="l"/>
            <a:pathLst>
              <a:path h="10287000" w="8191500">
                <a:moveTo>
                  <a:pt x="0" y="0"/>
                </a:moveTo>
                <a:lnTo>
                  <a:pt x="8191500" y="0"/>
                </a:lnTo>
                <a:lnTo>
                  <a:pt x="8191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" r="0" b="-8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334500" y="0"/>
            <a:ext cx="2857500" cy="10287000"/>
            <a:chOff x="0" y="0"/>
            <a:chExt cx="381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D2B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50" y="1143000"/>
            <a:ext cx="876300" cy="76200"/>
            <a:chOff x="0" y="0"/>
            <a:chExt cx="11684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47750" y="1733550"/>
            <a:ext cx="9144000" cy="210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sz="7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Citation Network</a:t>
            </a:r>
          </a:p>
          <a:p>
            <a:pPr algn="l">
              <a:lnSpc>
                <a:spcPts val="8112"/>
              </a:lnSpc>
            </a:pPr>
            <a:r>
              <a:rPr lang="en-US" sz="7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3838575"/>
            <a:ext cx="7620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true">
                <a:solidFill>
                  <a:srgbClr val="18A6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matters most?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6734175"/>
            <a:ext cx="7239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Introduction to Network Science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7305675"/>
            <a:ext cx="72390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Your Name  •  Student ID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OpenAlex  •  Python  •  NetworkX  •  Due 28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5240000" cy="61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sz="4575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matters most — and by which definition?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095500"/>
            <a:ext cx="6858000" cy="5429250"/>
            <a:chOff x="0" y="0"/>
            <a:chExt cx="9144000" cy="723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44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1440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50" y="2095500"/>
            <a:ext cx="114300" cy="5429250"/>
            <a:chOff x="0" y="0"/>
            <a:chExt cx="152400" cy="723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1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8750" y="23431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8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MAIN QUESTION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2895600"/>
            <a:ext cx="5905500" cy="6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50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Which papers are most important</a:t>
            </a:r>
          </a:p>
          <a:p>
            <a:pPr algn="l">
              <a:lnSpc>
                <a:spcPts val="2652"/>
              </a:lnSpc>
            </a:pPr>
            <a:r>
              <a:rPr lang="en-US" sz="2550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inside this citation network?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58250" y="2381250"/>
            <a:ext cx="3143250" cy="1714500"/>
            <a:chOff x="0" y="0"/>
            <a:chExt cx="41910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9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216727"/>
                  </a:lnTo>
                  <a:cubicBezTo>
                    <a:pt x="4191000" y="2235100"/>
                    <a:pt x="4183702" y="2252719"/>
                    <a:pt x="4170711" y="2265711"/>
                  </a:cubicBezTo>
                  <a:cubicBezTo>
                    <a:pt x="4157719" y="2278702"/>
                    <a:pt x="4140100" y="2286000"/>
                    <a:pt x="4121727" y="2286000"/>
                  </a:cubicBezTo>
                  <a:lnTo>
                    <a:pt x="69273" y="2286000"/>
                  </a:lnTo>
                  <a:cubicBezTo>
                    <a:pt x="50900" y="2286000"/>
                    <a:pt x="33281" y="2278702"/>
                    <a:pt x="20290" y="2265711"/>
                  </a:cubicBezTo>
                  <a:cubicBezTo>
                    <a:pt x="7298" y="2252719"/>
                    <a:pt x="0" y="2235100"/>
                    <a:pt x="0" y="2216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02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191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Q1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In-degree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58250" y="4714875"/>
            <a:ext cx="3143250" cy="1714500"/>
            <a:chOff x="0" y="0"/>
            <a:chExt cx="41910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9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216727"/>
                  </a:lnTo>
                  <a:cubicBezTo>
                    <a:pt x="4191000" y="2235100"/>
                    <a:pt x="4183702" y="2252719"/>
                    <a:pt x="4170711" y="2265711"/>
                  </a:cubicBezTo>
                  <a:cubicBezTo>
                    <a:pt x="4157719" y="2278702"/>
                    <a:pt x="4140100" y="2286000"/>
                    <a:pt x="4121727" y="2286000"/>
                  </a:cubicBezTo>
                  <a:lnTo>
                    <a:pt x="69273" y="2286000"/>
                  </a:lnTo>
                  <a:cubicBezTo>
                    <a:pt x="50900" y="2286000"/>
                    <a:pt x="33281" y="2278702"/>
                    <a:pt x="20290" y="2265711"/>
                  </a:cubicBezTo>
                  <a:cubicBezTo>
                    <a:pt x="7298" y="2252719"/>
                    <a:pt x="0" y="2235100"/>
                    <a:pt x="0" y="2216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3976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4191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Q2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Betweenness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73000" y="2381250"/>
            <a:ext cx="3143250" cy="1714500"/>
            <a:chOff x="0" y="0"/>
            <a:chExt cx="4191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216727"/>
                  </a:lnTo>
                  <a:cubicBezTo>
                    <a:pt x="4191000" y="2235100"/>
                    <a:pt x="4183702" y="2252719"/>
                    <a:pt x="4170711" y="2265711"/>
                  </a:cubicBezTo>
                  <a:cubicBezTo>
                    <a:pt x="4157719" y="2278702"/>
                    <a:pt x="4140100" y="2286000"/>
                    <a:pt x="4121727" y="2286000"/>
                  </a:cubicBezTo>
                  <a:lnTo>
                    <a:pt x="69273" y="2286000"/>
                  </a:lnTo>
                  <a:cubicBezTo>
                    <a:pt x="50900" y="2286000"/>
                    <a:pt x="33281" y="2278702"/>
                    <a:pt x="20290" y="2265711"/>
                  </a:cubicBezTo>
                  <a:cubicBezTo>
                    <a:pt x="7298" y="2252719"/>
                    <a:pt x="0" y="2235100"/>
                    <a:pt x="0" y="2216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02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191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Q3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PageRank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73000" y="4714875"/>
            <a:ext cx="3143250" cy="1714500"/>
            <a:chOff x="0" y="0"/>
            <a:chExt cx="4191000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9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216727"/>
                  </a:lnTo>
                  <a:cubicBezTo>
                    <a:pt x="4191000" y="2235100"/>
                    <a:pt x="4183702" y="2252719"/>
                    <a:pt x="4170711" y="2265711"/>
                  </a:cubicBezTo>
                  <a:cubicBezTo>
                    <a:pt x="4157719" y="2278702"/>
                    <a:pt x="4140100" y="2286000"/>
                    <a:pt x="4121727" y="2286000"/>
                  </a:cubicBezTo>
                  <a:lnTo>
                    <a:pt x="69273" y="2286000"/>
                  </a:lnTo>
                  <a:cubicBezTo>
                    <a:pt x="50900" y="2286000"/>
                    <a:pt x="33281" y="2278702"/>
                    <a:pt x="20290" y="2265711"/>
                  </a:cubicBezTo>
                  <a:cubicBezTo>
                    <a:pt x="7298" y="2252719"/>
                    <a:pt x="0" y="2235100"/>
                    <a:pt x="0" y="2216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02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4191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Q4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Communities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7905750" y="3238500"/>
            <a:ext cx="952500" cy="1571625"/>
          </a:xfrm>
          <a:prstGeom prst="line">
            <a:avLst/>
          </a:prstGeom>
          <a:ln cap="flat" w="28575">
            <a:solidFill>
              <a:srgbClr val="B9CD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7905750" y="4810125"/>
            <a:ext cx="952500" cy="762000"/>
          </a:xfrm>
          <a:prstGeom prst="line">
            <a:avLst/>
          </a:prstGeom>
          <a:ln cap="flat" w="28575">
            <a:solidFill>
              <a:srgbClr val="B9CD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8858250" y="6762750"/>
            <a:ext cx="6858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Q5  Rankings over time (up to 2010 vs full)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71525"/>
            <a:ext cx="14287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closed, reproducible sample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04875" y="3333750"/>
            <a:ext cx="3143250" cy="1809750"/>
            <a:chOff x="0" y="0"/>
            <a:chExt cx="4191000" cy="241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343727"/>
                  </a:lnTo>
                  <a:cubicBezTo>
                    <a:pt x="4191000" y="2362100"/>
                    <a:pt x="4183702" y="2379719"/>
                    <a:pt x="4170711" y="2392711"/>
                  </a:cubicBezTo>
                  <a:cubicBezTo>
                    <a:pt x="4157719" y="2405702"/>
                    <a:pt x="4140100" y="2413000"/>
                    <a:pt x="4121727" y="2413000"/>
                  </a:cubicBezTo>
                  <a:lnTo>
                    <a:pt x="69273" y="2413000"/>
                  </a:lnTo>
                  <a:cubicBezTo>
                    <a:pt x="50900" y="2413000"/>
                    <a:pt x="33281" y="2405702"/>
                    <a:pt x="20290" y="2392711"/>
                  </a:cubicBezTo>
                  <a:cubicBezTo>
                    <a:pt x="7298" y="2379719"/>
                    <a:pt x="0" y="2362100"/>
                    <a:pt x="0" y="2343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02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191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OpenAlex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5 title queries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4143375" y="4238625"/>
            <a:ext cx="1000125" cy="0"/>
          </a:xfrm>
          <a:prstGeom prst="line">
            <a:avLst/>
          </a:prstGeom>
          <a:ln cap="rnd" w="47625">
            <a:solidFill>
              <a:srgbClr val="397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238750" y="3333750"/>
            <a:ext cx="3143250" cy="1809750"/>
            <a:chOff x="0" y="0"/>
            <a:chExt cx="4191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343727"/>
                  </a:lnTo>
                  <a:cubicBezTo>
                    <a:pt x="4191000" y="2362100"/>
                    <a:pt x="4183702" y="2379719"/>
                    <a:pt x="4170711" y="2392711"/>
                  </a:cubicBezTo>
                  <a:cubicBezTo>
                    <a:pt x="4157719" y="2405702"/>
                    <a:pt x="4140100" y="2413000"/>
                    <a:pt x="4121727" y="2413000"/>
                  </a:cubicBezTo>
                  <a:lnTo>
                    <a:pt x="69273" y="2413000"/>
                  </a:lnTo>
                  <a:cubicBezTo>
                    <a:pt x="50900" y="2413000"/>
                    <a:pt x="33281" y="2405702"/>
                    <a:pt x="20290" y="2392711"/>
                  </a:cubicBezTo>
                  <a:cubicBezTo>
                    <a:pt x="7298" y="2379719"/>
                    <a:pt x="0" y="2362100"/>
                    <a:pt x="0" y="2343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191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Top 150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most-cited papers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8477250" y="4238625"/>
            <a:ext cx="1000125" cy="0"/>
          </a:xfrm>
          <a:prstGeom prst="line">
            <a:avLst/>
          </a:prstGeom>
          <a:ln cap="rnd" w="47625">
            <a:solidFill>
              <a:srgbClr val="397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572625" y="3333750"/>
            <a:ext cx="3143250" cy="1809750"/>
            <a:chOff x="0" y="0"/>
            <a:chExt cx="4191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343727"/>
                  </a:lnTo>
                  <a:cubicBezTo>
                    <a:pt x="4191000" y="2362100"/>
                    <a:pt x="4183702" y="2379719"/>
                    <a:pt x="4170711" y="2392711"/>
                  </a:cubicBezTo>
                  <a:cubicBezTo>
                    <a:pt x="4157719" y="2405702"/>
                    <a:pt x="4140100" y="2413000"/>
                    <a:pt x="4121727" y="2413000"/>
                  </a:cubicBezTo>
                  <a:lnTo>
                    <a:pt x="69273" y="2413000"/>
                  </a:lnTo>
                  <a:cubicBezTo>
                    <a:pt x="50900" y="2413000"/>
                    <a:pt x="33281" y="2405702"/>
                    <a:pt x="20290" y="2392711"/>
                  </a:cubicBezTo>
                  <a:cubicBezTo>
                    <a:pt x="7298" y="2379719"/>
                    <a:pt x="0" y="2362100"/>
                    <a:pt x="0" y="2343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02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191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Directed graph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 NetworkX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2811125" y="4238625"/>
            <a:ext cx="1000125" cy="0"/>
          </a:xfrm>
          <a:prstGeom prst="line">
            <a:avLst/>
          </a:prstGeom>
          <a:ln cap="rnd" w="47625">
            <a:solidFill>
              <a:srgbClr val="397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3906500" y="3333750"/>
            <a:ext cx="3143250" cy="1809750"/>
            <a:chOff x="0" y="0"/>
            <a:chExt cx="4191000" cy="241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343727"/>
                  </a:lnTo>
                  <a:cubicBezTo>
                    <a:pt x="4191000" y="2362100"/>
                    <a:pt x="4183702" y="2379719"/>
                    <a:pt x="4170711" y="2392711"/>
                  </a:cubicBezTo>
                  <a:cubicBezTo>
                    <a:pt x="4157719" y="2405702"/>
                    <a:pt x="4140100" y="2413000"/>
                    <a:pt x="4121727" y="2413000"/>
                  </a:cubicBezTo>
                  <a:lnTo>
                    <a:pt x="69273" y="2413000"/>
                  </a:lnTo>
                  <a:cubicBezTo>
                    <a:pt x="50900" y="2413000"/>
                    <a:pt x="33281" y="2405702"/>
                    <a:pt x="20290" y="2392711"/>
                  </a:cubicBezTo>
                  <a:cubicBezTo>
                    <a:pt x="7298" y="2379719"/>
                    <a:pt x="0" y="2362100"/>
                    <a:pt x="0" y="2343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02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191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Centrality +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communities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24000" y="7781925"/>
            <a:ext cx="15240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Edge A → B: paper A cites paper B  •  428 raw edges, 4 self-loops removed → 424 edges  •  retrieved 2026-10-20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71525"/>
            <a:ext cx="14287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network is sparse but connected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590675"/>
            <a:ext cx="16192500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133 of 150 papers in the largest component  •  33% never cited in-sample  •  average path 2.92, diameter 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143250"/>
            <a:ext cx="3810000" cy="2952750"/>
            <a:chOff x="0" y="0"/>
            <a:chExt cx="5080000" cy="3937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080000" cy="3937000"/>
              <a:chOff x="0" y="0"/>
              <a:chExt cx="5080000" cy="3937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0000" cy="3937000"/>
              </a:xfrm>
              <a:custGeom>
                <a:avLst/>
                <a:gdLst/>
                <a:ahLst/>
                <a:cxnLst/>
                <a:rect r="r" b="b" t="t" l="l"/>
                <a:pathLst>
                  <a:path h="3937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0D2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80000" cy="397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44500" y="628650"/>
              <a:ext cx="4191000" cy="1525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150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4500" y="2384425"/>
              <a:ext cx="4191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papers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6375" y="3143250"/>
            <a:ext cx="3810000" cy="2952750"/>
            <a:chOff x="0" y="0"/>
            <a:chExt cx="5080000" cy="3937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080000" cy="3937000"/>
              <a:chOff x="0" y="0"/>
              <a:chExt cx="5080000" cy="3937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080000" cy="3937000"/>
              </a:xfrm>
              <a:custGeom>
                <a:avLst/>
                <a:gdLst/>
                <a:ahLst/>
                <a:cxnLst/>
                <a:rect r="r" b="b" t="t" l="l"/>
                <a:pathLst>
                  <a:path h="3937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0D2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5080000" cy="397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44500" y="628650"/>
              <a:ext cx="4191000" cy="1525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424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44500" y="2384425"/>
              <a:ext cx="4191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citation edges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0" y="3143250"/>
            <a:ext cx="3810000" cy="2952750"/>
            <a:chOff x="0" y="0"/>
            <a:chExt cx="5080000" cy="3937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80000" cy="3937000"/>
              <a:chOff x="0" y="0"/>
              <a:chExt cx="5080000" cy="3937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080000" cy="3937000"/>
              </a:xfrm>
              <a:custGeom>
                <a:avLst/>
                <a:gdLst/>
                <a:ahLst/>
                <a:cxnLst/>
                <a:rect r="r" b="b" t="t" l="l"/>
                <a:pathLst>
                  <a:path h="3937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123F4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5080000" cy="397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44500" y="628650"/>
              <a:ext cx="4191000" cy="1525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true">
                  <a:solidFill>
                    <a:srgbClr val="18A6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1.90%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44500" y="2384425"/>
              <a:ext cx="4191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directed density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63625" y="3143250"/>
            <a:ext cx="3810000" cy="2952750"/>
            <a:chOff x="0" y="0"/>
            <a:chExt cx="5080000" cy="3937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080000" cy="3937000"/>
              <a:chOff x="0" y="0"/>
              <a:chExt cx="5080000" cy="3937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080000" cy="3937000"/>
              </a:xfrm>
              <a:custGeom>
                <a:avLst/>
                <a:gdLst/>
                <a:ahLst/>
                <a:cxnLst/>
                <a:rect r="r" b="b" t="t" l="l"/>
                <a:pathLst>
                  <a:path h="3937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0D2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080000" cy="397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44500" y="628650"/>
              <a:ext cx="4191000" cy="1525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2.83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44500" y="2384425"/>
              <a:ext cx="4191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mean out-degree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95325"/>
            <a:ext cx="13811250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48"/>
              </a:lnSpc>
              <a:spcBef>
                <a:spcPct val="0"/>
              </a:spcBef>
            </a:pPr>
            <a:r>
              <a:rPr lang="en-US" b="true" sz="4950" strike="noStrike" u="non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Q1 — Classics win on in-degree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524000"/>
            <a:ext cx="10477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8A6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1973 co-citation paper leads with 41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381250"/>
            <a:ext cx="14478000" cy="6191250"/>
            <a:chOff x="0" y="0"/>
            <a:chExt cx="19304000" cy="825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04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9304000">
                  <a:moveTo>
                    <a:pt x="0" y="0"/>
                  </a:moveTo>
                  <a:lnTo>
                    <a:pt x="19304000" y="0"/>
                  </a:lnTo>
                  <a:lnTo>
                    <a:pt x="19304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304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81125" y="2628900"/>
            <a:ext cx="12382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1725" spc="138" strike="noStrike" u="none">
                <a:solidFill>
                  <a:srgbClr val="61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RANK   PAPER (YEAR)  —  IN-DEGREE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1125" y="3105150"/>
            <a:ext cx="13144500" cy="352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   Co-citation in the scientific literature (1973)  —  41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   VOSviewer, a program for bibliometric mapping (2009)  —  31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    Bibliographic coupling between scientific papers (1963)  —  18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    Visualizing a discipline: author co-citation analysis (1998)  —  15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    Citation Analysis as a Tool in Journal Evaluation (1972)  —  12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    Intellectual structure of strategic management research (2004)  —  11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    Toward a definition of “bibliometrics” (1987)  —  10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    Intellectual structure of the strategic management field (2007)  —  10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    Literature of Bibliometrics, Scientometrics, Informetrics (2001)  —  8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    Bibliometric Methods in Management and Organization (2014)  —  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1125" y="8848725"/>
            <a:ext cx="13335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61798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Counts include only citations from the other 149 sampled papers.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7750" y="3143250"/>
            <a:ext cx="95250" cy="590550"/>
            <a:chOff x="0" y="0"/>
            <a:chExt cx="127000" cy="78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000" cy="787400"/>
            </a:xfrm>
            <a:custGeom>
              <a:avLst/>
              <a:gdLst/>
              <a:ahLst/>
              <a:cxnLst/>
              <a:rect r="r" b="b" t="t" l="l"/>
              <a:pathLst>
                <a:path h="7874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7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8572500" cy="69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5100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network at a glance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438400"/>
            <a:ext cx="6191250" cy="428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Node size</a:t>
            </a: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In-degree</a:t>
            </a: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Node colour</a:t>
            </a: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Louvain community</a:t>
            </a: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Arrow</a:t>
            </a: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Citing → cited paper</a:t>
            </a: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Drawn: 133 of 150 papers</a:t>
            </a:r>
          </a:p>
          <a:p>
            <a:pPr algn="l" marL="0" indent="0" lvl="0">
              <a:lnSpc>
                <a:spcPts val="3138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(17 outside the largest component are not shown)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0" y="1714500"/>
            <a:ext cx="8096250" cy="7239000"/>
            <a:chOff x="0" y="0"/>
            <a:chExt cx="10795000" cy="965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95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795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 descr="Citation network of the largest weak component: node size is in-degree, colour is Louvain community"/>
          <p:cNvSpPr/>
          <p:nvPr/>
        </p:nvSpPr>
        <p:spPr>
          <a:xfrm flipH="false" flipV="false" rot="0">
            <a:off x="9239250" y="2095500"/>
            <a:ext cx="7905750" cy="6467475"/>
          </a:xfrm>
          <a:custGeom>
            <a:avLst/>
            <a:gdLst/>
            <a:ahLst/>
            <a:cxnLst/>
            <a:rect r="r" b="b" t="t" l="l"/>
            <a:pathLst>
              <a:path h="6467475" w="7905750">
                <a:moveTo>
                  <a:pt x="0" y="0"/>
                </a:moveTo>
                <a:lnTo>
                  <a:pt x="7905750" y="0"/>
                </a:lnTo>
                <a:lnTo>
                  <a:pt x="7905750" y="6467475"/>
                </a:lnTo>
                <a:lnTo>
                  <a:pt x="0" y="6467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4287500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4950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Q3 — PageRank agrees, then reorders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828925"/>
            <a:ext cx="6858000" cy="1164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24"/>
              </a:lnSpc>
              <a:spcBef>
                <a:spcPct val="0"/>
              </a:spcBef>
            </a:pPr>
            <a:r>
              <a:rPr lang="en-US" b="true" sz="4350" strike="noStrike" u="non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Strong agreement.</a:t>
            </a:r>
          </a:p>
          <a:p>
            <a:pPr algn="l" marL="0" indent="0" lvl="0">
              <a:lnSpc>
                <a:spcPts val="4524"/>
              </a:lnSpc>
              <a:spcBef>
                <a:spcPct val="0"/>
              </a:spcBef>
            </a:pPr>
            <a:r>
              <a:rPr lang="en-US" b="true" sz="4350" strike="noStrike" u="non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Different top.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4733925"/>
            <a:ext cx="6572250" cy="14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Spearman ρ = 0.96, yet only 6 of the top 10 papers are shared. In-degree puts the 1973 co-citation paper first; PageRank puts the 1963 bibliographic coupling paper first, because it is cited by well-cited papers.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0" y="1714500"/>
            <a:ext cx="8096250" cy="7239000"/>
            <a:chOff x="0" y="0"/>
            <a:chExt cx="10795000" cy="965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5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5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 descr="Left: in-degree distribution on a log scale. Right: PageRank versus in-degree scatter, Spearman rho 0.96"/>
          <p:cNvSpPr/>
          <p:nvPr/>
        </p:nvSpPr>
        <p:spPr>
          <a:xfrm flipH="false" flipV="false" rot="0">
            <a:off x="9239250" y="3829050"/>
            <a:ext cx="7905750" cy="3000375"/>
          </a:xfrm>
          <a:custGeom>
            <a:avLst/>
            <a:gdLst/>
            <a:ahLst/>
            <a:cxnLst/>
            <a:rect r="r" b="b" t="t" l="l"/>
            <a:pathLst>
              <a:path h="3000375" w="7905750">
                <a:moveTo>
                  <a:pt x="0" y="0"/>
                </a:moveTo>
                <a:lnTo>
                  <a:pt x="7905750" y="0"/>
                </a:lnTo>
                <a:lnTo>
                  <a:pt x="79057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5240000" cy="69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5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Q2 — Bridges are not always classics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685925"/>
            <a:ext cx="1428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 betweenness belongs to recent reviews and method papers that connect otherwise separate conversations.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924175"/>
            <a:ext cx="16192500" cy="378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   How to conduct a bibliometric analysis: overview and guidelines (2021)  —  0.0109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   Bibliometric Methods in Management and Organization (2014)  —  0.0071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   Scholarly communication and bibliometrics (2002)  —  0.0071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   The intellectual structure of the strategic management field (2007)  —  0.0052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05   Changes in the intellectual structure of strategic management research (2004)  —  0.0045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Foundational papers are cited heavily but sit at path endpoints, so their betweenness is low.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52475"/>
            <a:ext cx="15621000" cy="60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2"/>
              </a:lnSpc>
            </a:pPr>
            <a:r>
              <a:rPr lang="en-US" sz="4425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Q4 — The field has moderate community 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609725"/>
            <a:ext cx="952500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617985"/>
                </a:solidFill>
                <a:latin typeface="Source Sans 3"/>
                <a:ea typeface="Source Sans 3"/>
                <a:cs typeface="Source Sans 3"/>
                <a:sym typeface="Source Sans 3"/>
              </a:rPr>
              <a:t>Louvain on the undirected graph  •  seed 42  •  24 communities  •  modularity 0.42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048000" y="4476750"/>
            <a:ext cx="2476500" cy="2476500"/>
            <a:chOff x="0" y="0"/>
            <a:chExt cx="3302000" cy="330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1651000" y="0"/>
                  </a:moveTo>
                  <a:cubicBezTo>
                    <a:pt x="2562822" y="0"/>
                    <a:pt x="3302000" y="739178"/>
                    <a:pt x="3302000" y="1651000"/>
                  </a:cubicBezTo>
                  <a:cubicBezTo>
                    <a:pt x="3302000" y="2562822"/>
                    <a:pt x="2562822" y="3302000"/>
                    <a:pt x="1651000" y="3302000"/>
                  </a:cubicBezTo>
                  <a:cubicBezTo>
                    <a:pt x="739178" y="3302000"/>
                    <a:pt x="0" y="2562822"/>
                    <a:pt x="0" y="1651000"/>
                  </a:cubicBezTo>
                  <a:cubicBezTo>
                    <a:pt x="0" y="739178"/>
                    <a:pt x="739178" y="0"/>
                    <a:pt x="1651000" y="0"/>
                  </a:cubicBezTo>
                  <a:close/>
                </a:path>
              </a:pathLst>
            </a:custGeom>
            <a:solidFill>
              <a:srgbClr val="3976C4">
                <a:alpha val="8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>
                      <a:alpha val="87843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25 papers</a:t>
              </a:r>
            </a:p>
            <a:p>
              <a:pPr algn="ctr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>
                      <a:alpha val="87843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Co-citation (1973)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34000" y="5810250"/>
            <a:ext cx="2476500" cy="2476500"/>
            <a:chOff x="0" y="0"/>
            <a:chExt cx="3302000" cy="330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1651000" y="0"/>
                  </a:moveTo>
                  <a:cubicBezTo>
                    <a:pt x="2562822" y="0"/>
                    <a:pt x="3302000" y="739178"/>
                    <a:pt x="3302000" y="1651000"/>
                  </a:cubicBezTo>
                  <a:cubicBezTo>
                    <a:pt x="3302000" y="2562822"/>
                    <a:pt x="2562822" y="3302000"/>
                    <a:pt x="1651000" y="3302000"/>
                  </a:cubicBezTo>
                  <a:cubicBezTo>
                    <a:pt x="739178" y="3302000"/>
                    <a:pt x="0" y="2562822"/>
                    <a:pt x="0" y="1651000"/>
                  </a:cubicBezTo>
                  <a:cubicBezTo>
                    <a:pt x="0" y="739178"/>
                    <a:pt x="739178" y="0"/>
                    <a:pt x="1651000" y="0"/>
                  </a:cubicBezTo>
                  <a:close/>
                </a:path>
              </a:pathLst>
            </a:custGeom>
            <a:solidFill>
              <a:srgbClr val="18A6A6">
                <a:alpha val="8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>
                      <a:alpha val="87843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22 papers</a:t>
              </a:r>
            </a:p>
            <a:p>
              <a:pPr algn="ctr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>
                      <a:alpha val="87843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Author co-citation (1998)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34250" y="3810000"/>
            <a:ext cx="2476500" cy="2476500"/>
            <a:chOff x="0" y="0"/>
            <a:chExt cx="3302000" cy="330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1651000" y="0"/>
                  </a:moveTo>
                  <a:cubicBezTo>
                    <a:pt x="2562822" y="0"/>
                    <a:pt x="3302000" y="739178"/>
                    <a:pt x="3302000" y="1651000"/>
                  </a:cubicBezTo>
                  <a:cubicBezTo>
                    <a:pt x="3302000" y="2562822"/>
                    <a:pt x="2562822" y="3302000"/>
                    <a:pt x="1651000" y="3302000"/>
                  </a:cubicBezTo>
                  <a:cubicBezTo>
                    <a:pt x="739178" y="3302000"/>
                    <a:pt x="0" y="2562822"/>
                    <a:pt x="0" y="1651000"/>
                  </a:cubicBezTo>
                  <a:cubicBezTo>
                    <a:pt x="0" y="739178"/>
                    <a:pt x="739178" y="0"/>
                    <a:pt x="1651000" y="0"/>
                  </a:cubicBezTo>
                  <a:close/>
                </a:path>
              </a:pathLst>
            </a:custGeom>
            <a:solidFill>
              <a:srgbClr val="E87563">
                <a:alpha val="8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>
                      <a:alpha val="87843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21 papers</a:t>
              </a:r>
            </a:p>
            <a:p>
              <a:pPr algn="ctr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>
                      <a:alpha val="87843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VOSviewer (2009)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0" y="5334000"/>
            <a:ext cx="2476500" cy="2476500"/>
            <a:chOff x="0" y="0"/>
            <a:chExt cx="33020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1651000" y="0"/>
                  </a:moveTo>
                  <a:cubicBezTo>
                    <a:pt x="2562822" y="0"/>
                    <a:pt x="3302000" y="739178"/>
                    <a:pt x="3302000" y="1651000"/>
                  </a:cubicBezTo>
                  <a:cubicBezTo>
                    <a:pt x="3302000" y="2562822"/>
                    <a:pt x="2562822" y="3302000"/>
                    <a:pt x="1651000" y="3302000"/>
                  </a:cubicBezTo>
                  <a:cubicBezTo>
                    <a:pt x="739178" y="3302000"/>
                    <a:pt x="0" y="2562822"/>
                    <a:pt x="0" y="1651000"/>
                  </a:cubicBezTo>
                  <a:cubicBezTo>
                    <a:pt x="0" y="739178"/>
                    <a:pt x="739178" y="0"/>
                    <a:pt x="1651000" y="0"/>
                  </a:cubicBezTo>
                  <a:close/>
                </a:path>
              </a:pathLst>
            </a:custGeom>
            <a:solidFill>
              <a:srgbClr val="102B3A">
                <a:alpha val="8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>
                      <a:alpha val="87843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20 papers</a:t>
              </a:r>
            </a:p>
            <a:p>
              <a:pPr algn="ctr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>
                      <a:alpha val="87843"/>
                    </a:srgbClr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Journal evaluation (1972)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763500" y="4067175"/>
            <a:ext cx="4476750" cy="184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Largest four communities, labelled by their top paper. Seven communities have 10 or more papers; the rest are small groups or papers with no in-sample links.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85800"/>
            <a:ext cx="15240000" cy="60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2"/>
              </a:lnSpc>
            </a:pPr>
            <a:r>
              <a:rPr lang="en-US" sz="4425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Q5 — Importance changes as the network grows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38275"/>
            <a:ext cx="4762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8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Snapshot comparison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0778" y="1422455"/>
            <a:ext cx="12030444" cy="820409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287250" y="3305175"/>
            <a:ext cx="4476750" cy="161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2"/>
              </a:lnSpc>
              <a:spcBef>
                <a:spcPct val="0"/>
              </a:spcBef>
            </a:pPr>
            <a:r>
              <a:rPr lang="en-US" b="true" sz="4050" strike="noStrike" u="non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 to 2010</a:t>
            </a:r>
          </a:p>
          <a:p>
            <a:pPr algn="l" marL="0" indent="0" lvl="0">
              <a:lnSpc>
                <a:spcPts val="4212"/>
              </a:lnSpc>
              <a:spcBef>
                <a:spcPct val="0"/>
              </a:spcBef>
            </a:pPr>
            <a:r>
              <a:rPr lang="en-US" b="true" sz="4050" strike="noStrike" u="non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61 papers</a:t>
            </a:r>
          </a:p>
          <a:p>
            <a:pPr algn="l" marL="0" indent="0" lvl="0">
              <a:lnSpc>
                <a:spcPts val="4212"/>
              </a:lnSpc>
              <a:spcBef>
                <a:spcPct val="0"/>
              </a:spcBef>
            </a:pPr>
            <a:r>
              <a:rPr lang="en-US" b="true" sz="4050" strike="noStrike" u="non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93 citations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7250" y="5934075"/>
            <a:ext cx="4476750" cy="1768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4050" strike="noStrike" u="none">
                <a:solidFill>
                  <a:srgbClr val="18A6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 network</a:t>
            </a:r>
          </a:p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4050" strike="noStrike" u="none">
                <a:solidFill>
                  <a:srgbClr val="18A6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150 papers</a:t>
            </a:r>
          </a:p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4050" strike="noStrike" u="none">
                <a:solidFill>
                  <a:srgbClr val="18A6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424 citations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8858250"/>
            <a:ext cx="161925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The 1973 co-citation paper is #1 in both networks (in-degree 14 → 41). Others fall: Scholarly communication and bibliometrics #4 → #14, Problems of citation analysis #6 → #30.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62000"/>
            <a:ext cx="15240000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4950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this sample can—and cannot—say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381250"/>
            <a:ext cx="7239000" cy="5715000"/>
            <a:chOff x="0" y="0"/>
            <a:chExt cx="9652000" cy="762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7620000"/>
              <a:chOff x="0" y="0"/>
              <a:chExt cx="9652000" cy="762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35000" y="5969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187" b="true">
                  <a:solidFill>
                    <a:srgbClr val="18A6A6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CAN SAY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35000" y="1485900"/>
              <a:ext cx="8255000" cy="2582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38"/>
                </a:lnSpc>
              </a:pPr>
              <a:r>
                <a:rPr lang="en-US" sz="2325">
                  <a:solidFill>
                    <a:srgbClr val="102B3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Which papers are central inside this closed 150-paper network.</a:t>
              </a:r>
            </a:p>
            <a:p>
              <a:pPr algn="l">
                <a:lnSpc>
                  <a:spcPts val="3138"/>
                </a:lnSpc>
              </a:pPr>
            </a:p>
            <a:p>
              <a:pPr algn="l">
                <a:lnSpc>
                  <a:spcPts val="3138"/>
                </a:lnSpc>
              </a:pPr>
              <a:r>
                <a:rPr lang="en-US" sz="2325">
                  <a:solidFill>
                    <a:srgbClr val="102B3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How three centrality measures behave on the same graph.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2381250"/>
            <a:ext cx="7239000" cy="7277100"/>
            <a:chOff x="0" y="0"/>
            <a:chExt cx="9652000" cy="97028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0" cy="9702800"/>
              <a:chOff x="0" y="0"/>
              <a:chExt cx="9652000" cy="970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0" cy="9702800"/>
              </a:xfrm>
              <a:custGeom>
                <a:avLst/>
                <a:gdLst/>
                <a:ahLst/>
                <a:cxnLst/>
                <a:rect r="r" b="b" t="t" l="l"/>
                <a:pathLst>
                  <a:path h="9702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9702800"/>
                    </a:lnTo>
                    <a:lnTo>
                      <a:pt x="0" y="9702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652000" cy="974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5000" y="5969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187" b="true">
                  <a:solidFill>
                    <a:srgbClr val="E8756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CANNOT SAY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35000" y="1485900"/>
              <a:ext cx="8255000" cy="362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38"/>
                </a:lnSpc>
                <a:spcBef>
                  <a:spcPct val="0"/>
                </a:spcBef>
              </a:pPr>
              <a:r>
                <a:rPr lang="en-US" sz="2325" strike="noStrike" u="none">
                  <a:solidFill>
                    <a:srgbClr val="102B3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Who matters across all of bibliometrics: OpenAlex coverage and title-keyword sampling limit this.</a:t>
              </a:r>
            </a:p>
            <a:p>
              <a:pPr algn="l" marL="0" indent="0" lvl="0">
                <a:lnSpc>
                  <a:spcPts val="3138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138"/>
                </a:lnSpc>
                <a:spcBef>
                  <a:spcPct val="0"/>
                </a:spcBef>
              </a:pPr>
              <a:r>
                <a:rPr lang="en-US" sz="2325" strike="noStrike" u="none">
                  <a:solidFill>
                    <a:srgbClr val="102B3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Total citation counts: in-degree counts only the other 149 papers.</a:t>
              </a:r>
            </a:p>
            <a:p>
              <a:pPr algn="l" marL="0" indent="0" lvl="0">
                <a:lnSpc>
                  <a:spcPts val="3138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138"/>
                </a:lnSpc>
                <a:spcBef>
                  <a:spcPct val="0"/>
                </a:spcBef>
              </a:pPr>
              <a:r>
                <a:rPr lang="en-US" sz="2325" strike="noStrike" u="none">
                  <a:solidFill>
                    <a:srgbClr val="102B3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Quality: citations measure attention, not quality.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47750" y="8324850"/>
            <a:ext cx="72390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Also: older papers had longer to be cited (ρ year vs in-degree = −0.61)  •  self-citations not removed  •  Louvain seed fixed at 42  •  2010 cutoff is a choice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38200"/>
            <a:ext cx="15716250" cy="68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50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matters most depends on the measure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28750" y="3810000"/>
            <a:ext cx="4762500" cy="2190750"/>
            <a:chOff x="0" y="0"/>
            <a:chExt cx="6350000" cy="292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875280"/>
                  </a:lnTo>
                  <a:cubicBezTo>
                    <a:pt x="6350000" y="2900531"/>
                    <a:pt x="6329530" y="2921000"/>
                    <a:pt x="6304280" y="2921000"/>
                  </a:cubicBezTo>
                  <a:lnTo>
                    <a:pt x="45720" y="2921000"/>
                  </a:lnTo>
                  <a:cubicBezTo>
                    <a:pt x="20470" y="2921000"/>
                    <a:pt x="0" y="2900531"/>
                    <a:pt x="0" y="2875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976C4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6350000" cy="291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IN-DEGREE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1973 co-citation paper (41)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53250" y="3810000"/>
            <a:ext cx="4762500" cy="2190750"/>
            <a:chOff x="0" y="0"/>
            <a:chExt cx="6350000" cy="292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875280"/>
                  </a:lnTo>
                  <a:cubicBezTo>
                    <a:pt x="6350000" y="2900531"/>
                    <a:pt x="6329530" y="2921000"/>
                    <a:pt x="6304280" y="2921000"/>
                  </a:cubicBezTo>
                  <a:lnTo>
                    <a:pt x="45720" y="2921000"/>
                  </a:lnTo>
                  <a:cubicBezTo>
                    <a:pt x="20470" y="2921000"/>
                    <a:pt x="0" y="2900531"/>
                    <a:pt x="0" y="2875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8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6350000" cy="291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BETWEENNESS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2021 guidelines paper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77750" y="3810000"/>
            <a:ext cx="4762500" cy="2190750"/>
            <a:chOff x="0" y="0"/>
            <a:chExt cx="6350000" cy="292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875280"/>
                  </a:lnTo>
                  <a:cubicBezTo>
                    <a:pt x="6350000" y="2900531"/>
                    <a:pt x="6329530" y="2921000"/>
                    <a:pt x="6304280" y="2921000"/>
                  </a:cubicBezTo>
                  <a:lnTo>
                    <a:pt x="45720" y="2921000"/>
                  </a:lnTo>
                  <a:cubicBezTo>
                    <a:pt x="20470" y="2921000"/>
                    <a:pt x="0" y="2900531"/>
                    <a:pt x="0" y="2875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976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6350000" cy="291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PAGERANK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1963 coupling paper first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62250" y="7496175"/>
            <a:ext cx="12763500" cy="83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2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PageRank tracks in-degree (ρ = 0.96) but reorders the top. Citation counts show attention, not quality.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71525"/>
            <a:ext cx="11430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tru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 and 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295525"/>
            <a:ext cx="571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79" b="true">
                <a:solidFill>
                  <a:srgbClr val="18A6A6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819400"/>
            <a:ext cx="7429500" cy="233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OpenAlex documentation. Works and referenced works.</a:t>
            </a:r>
          </a:p>
          <a:p>
            <a:pPr algn="l">
              <a:lnSpc>
                <a:spcPts val="2632"/>
              </a:lnSpc>
            </a:pP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NetworkX documentation. Centrality algorithms.</a:t>
            </a:r>
          </a:p>
          <a:p>
            <a:pPr algn="l">
              <a:lnSpc>
                <a:spcPts val="2632"/>
              </a:lnSpc>
            </a:pP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Blondel et al. (2008). Fast unfolding of communities.</a:t>
            </a:r>
          </a:p>
          <a:p>
            <a:pPr algn="l">
              <a:lnSpc>
                <a:spcPts val="2632"/>
              </a:lnSpc>
            </a:pP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B3A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Small (1973). Co-citation in the scientific literature.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000" y="2714625"/>
            <a:ext cx="7239000" cy="4286250"/>
            <a:chOff x="0" y="0"/>
            <a:chExt cx="9652000" cy="571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52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520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01250" y="2295525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79" b="true">
                <a:solidFill>
                  <a:srgbClr val="3976C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REPRODUCIBLE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1250" y="2914650"/>
            <a:ext cx="6191250" cy="2056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3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collect.py     fetch OpenAlex</a:t>
            </a:r>
          </a:p>
          <a:p>
            <a:pPr algn="l" marL="0" indent="0" lvl="0">
              <a:lnSpc>
                <a:spcPts val="2733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analyze.py     metrics + communities</a:t>
            </a:r>
          </a:p>
          <a:p>
            <a:pPr algn="l" marL="0" indent="0" lvl="0">
              <a:lnSpc>
                <a:spcPts val="2733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build_deck.py  slides</a:t>
            </a:r>
          </a:p>
          <a:p>
            <a:pPr algn="l" marL="0" indent="0" lvl="0">
              <a:lnSpc>
                <a:spcPts val="2733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results/       tables + figures</a:t>
            </a:r>
          </a:p>
          <a:p>
            <a:pPr algn="l" marL="0" indent="0" lvl="0">
              <a:lnSpc>
                <a:spcPts val="273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33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102B3A"/>
                </a:solidFill>
                <a:latin typeface="IBM Plex Mono"/>
                <a:ea typeface="IBM Plex Mono"/>
                <a:cs typeface="IBM Plex Mono"/>
                <a:sym typeface="IBM Plex Mono"/>
              </a:rPr>
              <a:t>Python • NetworkX • pandas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1250" y="8162925"/>
            <a:ext cx="619125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2"/>
              </a:lnSpc>
              <a:spcBef>
                <a:spcPct val="0"/>
              </a:spcBef>
            </a:pPr>
            <a:r>
              <a:rPr lang="en-US" b="true" sz="4050" strike="noStrike" u="none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5857875"/>
            <a:ext cx="7810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github.com/MSamiulHasnat/CitationNetworkAnalysis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DAHYij6q7VE</dc:identifier>
  <dcterms:modified xsi:type="dcterms:W3CDTF">2011-08-01T06:04:30Z</dcterms:modified>
  <cp:revision>1</cp:revision>
  <dc:title>Citation Network Analysis</dc:title>
</cp:coreProperties>
</file>